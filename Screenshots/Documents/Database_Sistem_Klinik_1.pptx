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9FF"/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C9FF"/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9FF"/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089136" y="0"/>
            <a:ext cx="54864" cy="5143500"/>
          </a:xfrm>
          <a:prstGeom prst="rect">
            <a:avLst/>
          </a:prstGeom>
          <a:solidFill>
            <a:srgbClr val="00C9FF"/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0" y="-914400"/>
            <a:ext cx="5029200" cy="5029200"/>
          </a:xfrm>
          <a:prstGeom prst="ellipse">
            <a:avLst/>
          </a:prstGeom>
          <a:solidFill>
            <a:srgbClr val="1E2761">
              <a:alpha val="60000"/>
            </a:srgbClr>
          </a:solidFill>
          <a:ln w="25400">
            <a:solidFill>
              <a:srgbClr val="4A90D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0" y="-274320"/>
            <a:ext cx="3657600" cy="3657600"/>
          </a:xfrm>
          <a:prstGeom prst="ellipse">
            <a:avLst/>
          </a:prstGeom>
          <a:solidFill>
            <a:srgbClr val="2E5FA3">
              <a:alpha val="40000"/>
            </a:srgbClr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32320" y="457200"/>
            <a:ext cx="1645920" cy="502920"/>
          </a:xfrm>
          <a:prstGeom prst="ellipse">
            <a:avLst/>
          </a:prstGeom>
          <a:solidFill>
            <a:srgbClr val="4A90D9"/>
          </a:solidFill>
          <a:ln w="25400">
            <a:solidFill>
              <a:srgbClr val="00C9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32320" y="704088"/>
            <a:ext cx="1645920" cy="1097280"/>
          </a:xfrm>
          <a:prstGeom prst="rect">
            <a:avLst/>
          </a:prstGeom>
          <a:solidFill>
            <a:srgbClr val="2E5FA3"/>
          </a:solidFill>
          <a:ln w="25400">
            <a:solidFill>
              <a:srgbClr val="00C9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32320" y="1572768"/>
            <a:ext cx="1645920" cy="502920"/>
          </a:xfrm>
          <a:prstGeom prst="ellipse">
            <a:avLst/>
          </a:prstGeom>
          <a:solidFill>
            <a:srgbClr val="4A90D9"/>
          </a:solidFill>
          <a:ln w="25400">
            <a:solidFill>
              <a:srgbClr val="00C9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132320" y="1965960"/>
            <a:ext cx="1645920" cy="502920"/>
          </a:xfrm>
          <a:prstGeom prst="ellipse">
            <a:avLst/>
          </a:prstGeom>
          <a:solidFill>
            <a:srgbClr val="1E2761"/>
          </a:solidFill>
          <a:ln w="25400">
            <a:solidFill>
              <a:srgbClr val="00C9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132320" y="2212848"/>
            <a:ext cx="1645920" cy="822960"/>
          </a:xfrm>
          <a:prstGeom prst="rect">
            <a:avLst/>
          </a:prstGeom>
          <a:solidFill>
            <a:srgbClr val="0D1B3E"/>
          </a:solidFill>
          <a:ln w="25400">
            <a:solidFill>
              <a:srgbClr val="00C9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0" y="2807208"/>
            <a:ext cx="1645920" cy="502920"/>
          </a:xfrm>
          <a:prstGeom prst="ellipse">
            <a:avLst/>
          </a:prstGeom>
          <a:solidFill>
            <a:srgbClr val="4A90D9"/>
          </a:solidFill>
          <a:ln w="25400">
            <a:solidFill>
              <a:srgbClr val="00C9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74320"/>
            <a:ext cx="2926080" cy="384048"/>
          </a:xfrm>
          <a:prstGeom prst="rect">
            <a:avLst/>
          </a:prstGeom>
          <a:solidFill>
            <a:srgbClr val="4A90D9">
              <a:alpha val="80000"/>
            </a:srgbClr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74320"/>
            <a:ext cx="29260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💻  INFORMATIKA  //  DATABASE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65760" y="1325245"/>
            <a:ext cx="621792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00C9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DATABASE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365760" y="1965325"/>
            <a:ext cx="62179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SISTEM KLINIK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365760" y="2286000"/>
            <a:ext cx="5943600" cy="7315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3063240"/>
            <a:ext cx="3200400" cy="36576"/>
          </a:xfrm>
          <a:prstGeom prst="rect">
            <a:avLst/>
          </a:prstGeom>
          <a:solidFill>
            <a:srgbClr val="00C9FF"/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246120"/>
            <a:ext cx="109728" cy="109728"/>
          </a:xfrm>
          <a:prstGeom prst="ellipse">
            <a:avLst/>
          </a:prstGeom>
          <a:solidFill>
            <a:srgbClr val="00C9FF"/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182112"/>
            <a:ext cx="22860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Abdul Khair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65760" y="3538728"/>
            <a:ext cx="109728" cy="109728"/>
          </a:xfrm>
          <a:prstGeom prst="ellipse">
            <a:avLst/>
          </a:prstGeom>
          <a:solidFill>
            <a:srgbClr val="00C9FF"/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474720"/>
            <a:ext cx="22860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Reza Atmaja Yakin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65760" y="3831336"/>
            <a:ext cx="109728" cy="109728"/>
          </a:xfrm>
          <a:prstGeom prst="ellipse">
            <a:avLst/>
          </a:prstGeom>
          <a:solidFill>
            <a:srgbClr val="00C9FF"/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3767328"/>
            <a:ext cx="22860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Lukmanul Hakim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65760" y="4123944"/>
            <a:ext cx="109728" cy="109728"/>
          </a:xfrm>
          <a:prstGeom prst="ellipse">
            <a:avLst/>
          </a:prstGeom>
          <a:solidFill>
            <a:srgbClr val="00C9FF"/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4059936"/>
            <a:ext cx="22860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Nur Syah Khairul Iman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108960" y="3246120"/>
            <a:ext cx="109728" cy="109728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91840" y="3182112"/>
            <a:ext cx="2743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Puput Novita Sari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108960" y="3538728"/>
            <a:ext cx="109728" cy="109728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91840" y="3474720"/>
            <a:ext cx="2743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Greca Gloria Tandi Pau'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108960" y="3831336"/>
            <a:ext cx="109728" cy="109728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91840" y="3767328"/>
            <a:ext cx="2743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Uswatun Khasanah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365760" y="475488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899AA"/>
                </a:solidFill>
              </a:rPr>
              <a:t>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DAFTAR ISI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C9FF"/>
                </a:solidFill>
              </a:rPr>
              <a:t>Apa saja yang akan kita pelajari?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2606040" cy="1600200"/>
          </a:xfrm>
          <a:prstGeom prst="rect">
            <a:avLst/>
          </a:prstGeom>
          <a:solidFill>
            <a:srgbClr val="FFFFFF"/>
          </a:solidFill>
          <a:ln w="25400">
            <a:solidFill>
              <a:srgbClr val="4A90D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43000"/>
            <a:ext cx="502920" cy="16002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645920"/>
            <a:ext cx="5029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" y="1325880"/>
            <a:ext cx="19202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761"/>
                </a:solidFill>
              </a:rPr>
              <a:t>Apa itu Database?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1828800"/>
            <a:ext cx="1920240" cy="640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8899AA"/>
                </a:solidFill>
              </a:rPr>
              <a:t>Pengenalan konsep database klinik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1143000"/>
            <a:ext cx="2606040" cy="1600200"/>
          </a:xfrm>
          <a:prstGeom prst="rect">
            <a:avLst/>
          </a:prstGeom>
          <a:solidFill>
            <a:srgbClr val="FFFFFF"/>
          </a:solidFill>
          <a:ln w="25400">
            <a:solidFill>
              <a:srgbClr val="16A08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143000"/>
            <a:ext cx="502920" cy="1600200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1645920"/>
            <a:ext cx="5029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794760" y="1325880"/>
            <a:ext cx="19202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761"/>
                </a:solidFill>
              </a:rPr>
              <a:t>Struktur Tabel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794760" y="1828800"/>
            <a:ext cx="1920240" cy="640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8899AA"/>
                </a:solidFill>
              </a:rPr>
              <a:t>10 tabel utama dalam sistem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35040" y="1143000"/>
            <a:ext cx="2606040" cy="1600200"/>
          </a:xfrm>
          <a:prstGeom prst="rect">
            <a:avLst/>
          </a:prstGeom>
          <a:solidFill>
            <a:srgbClr val="FFFFFF"/>
          </a:solidFill>
          <a:ln w="25400">
            <a:solidFill>
              <a:srgbClr val="27AE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5040" y="1143000"/>
            <a:ext cx="502920" cy="16002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35040" y="1645920"/>
            <a:ext cx="5029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629400" y="1325880"/>
            <a:ext cx="19202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761"/>
                </a:solidFill>
              </a:rPr>
              <a:t>Relasi Antar Tabel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629400" y="1828800"/>
            <a:ext cx="1920240" cy="640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8899AA"/>
                </a:solidFill>
              </a:rPr>
              <a:t>Foreign key &amp; integritas data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2926080"/>
            <a:ext cx="2606040" cy="1600200"/>
          </a:xfrm>
          <a:prstGeom prst="rect">
            <a:avLst/>
          </a:prstGeom>
          <a:solidFill>
            <a:srgbClr val="FFFFFF"/>
          </a:solidFill>
          <a:ln w="25400">
            <a:solidFill>
              <a:srgbClr val="E67E2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2926080"/>
            <a:ext cx="502920" cy="16002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429000"/>
            <a:ext cx="5029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60120" y="3108960"/>
            <a:ext cx="19202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761"/>
                </a:solidFill>
              </a:rPr>
              <a:t>Fitur Unggulan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60120" y="3611880"/>
            <a:ext cx="1920240" cy="640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8899AA"/>
                </a:solidFill>
              </a:rPr>
              <a:t>Trigger, View, &amp; Stored Procedure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0" y="2926080"/>
            <a:ext cx="2606040" cy="1600200"/>
          </a:xfrm>
          <a:prstGeom prst="rect">
            <a:avLst/>
          </a:prstGeom>
          <a:solidFill>
            <a:srgbClr val="FFFFFF"/>
          </a:solidFill>
          <a:ln w="25400">
            <a:solidFill>
              <a:srgbClr val="2E5FA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0" y="2926080"/>
            <a:ext cx="502920" cy="1600200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0" y="3429000"/>
            <a:ext cx="5029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794760" y="3108960"/>
            <a:ext cx="19202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761"/>
                </a:solidFill>
              </a:rPr>
              <a:t>Alur Sistem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794760" y="3611880"/>
            <a:ext cx="1920240" cy="640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8899AA"/>
                </a:solidFill>
              </a:rPr>
              <a:t>Bagaimana sistem bekerja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035040" y="2926080"/>
            <a:ext cx="2606040" cy="1600200"/>
          </a:xfrm>
          <a:prstGeom prst="rect">
            <a:avLst/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035040" y="2926080"/>
            <a:ext cx="502920" cy="1600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35040" y="3429000"/>
            <a:ext cx="5029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629400" y="3108960"/>
            <a:ext cx="19202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761"/>
                </a:solidFill>
              </a:rPr>
              <a:t>Hasil Query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629400" y="3611880"/>
            <a:ext cx="1920240" cy="640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8899AA"/>
                </a:solidFill>
              </a:rPr>
              <a:t>10 laporan yang dihasilkan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0" y="0"/>
            <a:ext cx="45720" cy="5143500"/>
          </a:xfrm>
          <a:prstGeom prst="rect">
            <a:avLst/>
          </a:prstGeom>
          <a:solidFill>
            <a:srgbClr val="00C9FF"/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74320"/>
            <a:ext cx="1371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00C9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01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274320" y="1005840"/>
            <a:ext cx="320040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Apa itu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Database?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74320" y="3017520"/>
            <a:ext cx="548640" cy="548640"/>
          </a:xfrm>
          <a:prstGeom prst="ellipse">
            <a:avLst/>
          </a:prstGeom>
          <a:solidFill>
            <a:srgbClr val="00C9FF">
              <a:alpha val="50000"/>
            </a:srgbClr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" y="3383280"/>
            <a:ext cx="365760" cy="365760"/>
          </a:xfrm>
          <a:prstGeom prst="ellipse">
            <a:avLst/>
          </a:prstGeom>
          <a:solidFill>
            <a:srgbClr val="4A90D9">
              <a:alpha val="40000"/>
            </a:srgbClr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28800" y="3108960"/>
            <a:ext cx="640080" cy="640080"/>
          </a:xfrm>
          <a:prstGeom prst="ellipse">
            <a:avLst/>
          </a:prstGeom>
          <a:solidFill>
            <a:srgbClr val="2E5FA3">
              <a:alpha val="50000"/>
            </a:srgbClr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0" y="228600"/>
            <a:ext cx="4754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9FF"/>
                </a:solidFill>
              </a:rPr>
              <a:t>PENGERTIAN DATABASE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0" y="713232"/>
            <a:ext cx="466344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4A90D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251960" y="804672"/>
            <a:ext cx="4389120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</a:rPr>
              <a:t>Database adalah tempat penyimpanan data yang terstruktur dan terorganisir. Bayangkan seperti lemari arsip digital yang sangat rapi — semua informasi tersimpan, mudah dicari, dan bisa diakses kapan saja.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0" y="1874520"/>
            <a:ext cx="4754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9FF"/>
                </a:solidFill>
              </a:rPr>
              <a:t>MENGAPA KLINIK BUTUH DATABASE?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0" y="2286000"/>
            <a:ext cx="4663440" cy="566928"/>
          </a:xfrm>
          <a:prstGeom prst="rect">
            <a:avLst/>
          </a:prstGeom>
          <a:solidFill>
            <a:srgbClr val="142040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60520" y="2286000"/>
            <a:ext cx="4572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🏥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63440" y="2286000"/>
            <a:ext cx="402336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Menyimpan data ratusan pasien tanpa risiko hilang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114800" y="2944368"/>
            <a:ext cx="4663440" cy="566928"/>
          </a:xfrm>
          <a:prstGeom prst="rect">
            <a:avLst/>
          </a:prstGeom>
          <a:solidFill>
            <a:srgbClr val="142040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60520" y="2944368"/>
            <a:ext cx="4572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🔍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663440" y="2944368"/>
            <a:ext cx="402336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Pencarian data pasien hanya dalam hitungan detik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114800" y="3602736"/>
            <a:ext cx="4663440" cy="566928"/>
          </a:xfrm>
          <a:prstGeom prst="rect">
            <a:avLst/>
          </a:prstGeom>
          <a:solidFill>
            <a:srgbClr val="142040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60520" y="3602736"/>
            <a:ext cx="4572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🔗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663440" y="3602736"/>
            <a:ext cx="402336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Menghubungkan data dokter, jadwal, obat &amp; pembayaran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114800" y="4261104"/>
            <a:ext cx="4663440" cy="566928"/>
          </a:xfrm>
          <a:prstGeom prst="rect">
            <a:avLst/>
          </a:prstGeom>
          <a:solidFill>
            <a:srgbClr val="142040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60520" y="4261104"/>
            <a:ext cx="4572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📊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663440" y="4261104"/>
            <a:ext cx="402336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Menghasilkan laporan otomatis untuk manajemen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02  STRUKTUR TABEL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0" y="91440"/>
            <a:ext cx="338328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0C9FF"/>
                </a:solidFill>
              </a:rPr>
              <a:t>10 Tabel utama yang membangun sistem klinik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1572768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2E5FA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51560"/>
            <a:ext cx="1572768" cy="502920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51560"/>
            <a:ext cx="1572768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👤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20040" y="1581912"/>
            <a:ext cx="1481328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276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pasien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20040" y="1965960"/>
            <a:ext cx="1481328" cy="65836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9AA"/>
                </a:solidFill>
              </a:rPr>
              <a:t>Data lengkap pasien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993392" y="1051560"/>
            <a:ext cx="1572768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16A08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993392" y="1051560"/>
            <a:ext cx="1572768" cy="502920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93392" y="1051560"/>
            <a:ext cx="1572768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👨‍⚕️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039112" y="1581912"/>
            <a:ext cx="1481328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276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dokter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039112" y="1965960"/>
            <a:ext cx="1481328" cy="65836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9AA"/>
                </a:solidFill>
              </a:rPr>
              <a:t>Data dokter &amp; spesialisasi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712464" y="1051560"/>
            <a:ext cx="1572768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27AE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712464" y="1051560"/>
            <a:ext cx="1572768" cy="5029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12464" y="1051560"/>
            <a:ext cx="1572768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📅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758184" y="1581912"/>
            <a:ext cx="1481328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276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jadwal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758184" y="1965960"/>
            <a:ext cx="1481328" cy="65836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9AA"/>
                </a:solidFill>
              </a:rPr>
              <a:t>Jadwal praktik dokter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431536" y="1051560"/>
            <a:ext cx="1572768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E67E2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31536" y="1051560"/>
            <a:ext cx="1572768" cy="5029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31536" y="1051560"/>
            <a:ext cx="1572768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🩺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477256" y="1581912"/>
            <a:ext cx="1481328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276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pemeriksaan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477256" y="1965960"/>
            <a:ext cx="1481328" cy="65836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9AA"/>
                </a:solidFill>
              </a:rPr>
              <a:t>Rekam medis kunjungan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150608" y="1051560"/>
            <a:ext cx="1572768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E74C3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150608" y="1051560"/>
            <a:ext cx="1572768" cy="50292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50608" y="1051560"/>
            <a:ext cx="1572768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7196328" y="1581912"/>
            <a:ext cx="1481328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276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riwayat_penyakit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196328" y="1965960"/>
            <a:ext cx="1481328" cy="65836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9AA"/>
                </a:solidFill>
              </a:rPr>
              <a:t>Riwayat &amp; konsultasi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74320" y="2926080"/>
            <a:ext cx="1572768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74320" y="2926080"/>
            <a:ext cx="1572768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2926080"/>
            <a:ext cx="1572768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📖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320040" y="3456432"/>
            <a:ext cx="1481328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276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ref_penyakit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20040" y="3840480"/>
            <a:ext cx="1481328" cy="65836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9AA"/>
                </a:solidFill>
              </a:rPr>
              <a:t>Referensi penyakit &amp; spesialis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1993392" y="2926080"/>
            <a:ext cx="1572768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4A90D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1993392" y="2926080"/>
            <a:ext cx="1572768" cy="5029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993392" y="2926080"/>
            <a:ext cx="1572768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💊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2039112" y="3456432"/>
            <a:ext cx="1481328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276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obat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2039112" y="3840480"/>
            <a:ext cx="1481328" cy="65836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9AA"/>
                </a:solidFill>
              </a:rPr>
              <a:t>Master stok obat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712464" y="2926080"/>
            <a:ext cx="1572768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16A08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3712464" y="2926080"/>
            <a:ext cx="1572768" cy="502920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712464" y="2926080"/>
            <a:ext cx="1572768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📝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3758184" y="3456432"/>
            <a:ext cx="1481328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276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resep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3758184" y="3840480"/>
            <a:ext cx="1481328" cy="65836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9AA"/>
                </a:solidFill>
              </a:rPr>
              <a:t>Resep dari dokter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431536" y="2926080"/>
            <a:ext cx="1572768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27AE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5431536" y="2926080"/>
            <a:ext cx="1572768" cy="5029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431536" y="2926080"/>
            <a:ext cx="1572768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🔬</a:t>
            </a:r>
            <a:endParaRPr lang="en-US" sz="2000" dirty="0"/>
          </a:p>
        </p:txBody>
      </p:sp>
      <p:sp>
        <p:nvSpPr>
          <p:cNvPr id="48" name="Text 46"/>
          <p:cNvSpPr/>
          <p:nvPr/>
        </p:nvSpPr>
        <p:spPr>
          <a:xfrm>
            <a:off x="5477256" y="3456432"/>
            <a:ext cx="1481328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276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resep_detail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5477256" y="3840480"/>
            <a:ext cx="1481328" cy="65836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9AA"/>
                </a:solidFill>
              </a:rPr>
              <a:t>Detail item dalam resep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7150608" y="2926080"/>
            <a:ext cx="1572768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E67E2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7150608" y="2926080"/>
            <a:ext cx="1572768" cy="5029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150608" y="2926080"/>
            <a:ext cx="1572768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💳</a:t>
            </a:r>
            <a:endParaRPr lang="en-US" sz="2000" dirty="0"/>
          </a:p>
        </p:txBody>
      </p:sp>
      <p:sp>
        <p:nvSpPr>
          <p:cNvPr id="53" name="Text 51"/>
          <p:cNvSpPr/>
          <p:nvPr/>
        </p:nvSpPr>
        <p:spPr>
          <a:xfrm>
            <a:off x="7196328" y="3456432"/>
            <a:ext cx="1481328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276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pembayaran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7196328" y="3840480"/>
            <a:ext cx="1481328" cy="65836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9AA"/>
                </a:solidFill>
              </a:rPr>
              <a:t>Transaksi pembayaran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DETAIL TABEL UTAMA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14800" cy="41148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14400"/>
            <a:ext cx="4114800" cy="411480"/>
          </a:xfrm>
          <a:prstGeom prst="rect">
            <a:avLst/>
          </a:prstGeom>
          <a:noFill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👤  Tabel: pasien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353312"/>
            <a:ext cx="4114800" cy="420624"/>
          </a:xfrm>
          <a:prstGeom prst="rect">
            <a:avLst/>
          </a:prstGeom>
          <a:solidFill>
            <a:srgbClr val="142040"/>
          </a:solidFill>
          <a:ln w="12700">
            <a:solidFill>
              <a:srgbClr val="1420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353312"/>
            <a:ext cx="128016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C9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id_pasien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600200" y="1353312"/>
            <a:ext cx="96012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90D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INT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606040" y="1353312"/>
            <a:ext cx="173736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99AA"/>
                </a:solidFill>
              </a:rPr>
              <a:t>Primary Key, Auto Increment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74320" y="1783080"/>
            <a:ext cx="4114800" cy="420624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783080"/>
            <a:ext cx="128016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C9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no_rm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600200" y="1783080"/>
            <a:ext cx="96012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90D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VARCHAR(20)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606040" y="1783080"/>
            <a:ext cx="173736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99AA"/>
                </a:solidFill>
              </a:rPr>
              <a:t>Nomor Rekam Medis (UNIQUE)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74320" y="2212848"/>
            <a:ext cx="4114800" cy="420624"/>
          </a:xfrm>
          <a:prstGeom prst="rect">
            <a:avLst/>
          </a:prstGeom>
          <a:solidFill>
            <a:srgbClr val="142040"/>
          </a:solidFill>
          <a:ln w="12700">
            <a:solidFill>
              <a:srgbClr val="1420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212848"/>
            <a:ext cx="128016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C9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nama_pasien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600200" y="2212848"/>
            <a:ext cx="96012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90D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VARCHAR(100)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606040" y="2212848"/>
            <a:ext cx="173736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99AA"/>
                </a:solidFill>
              </a:rPr>
              <a:t>Nama lengkap pasien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74320" y="2642616"/>
            <a:ext cx="4114800" cy="420624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2642616"/>
            <a:ext cx="128016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C9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tanggal_lahir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600200" y="2642616"/>
            <a:ext cx="96012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90D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606040" y="2642616"/>
            <a:ext cx="173736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99AA"/>
                </a:solidFill>
              </a:rPr>
              <a:t>Tanggal lahir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74320" y="3072384"/>
            <a:ext cx="4114800" cy="420624"/>
          </a:xfrm>
          <a:prstGeom prst="rect">
            <a:avLst/>
          </a:prstGeom>
          <a:solidFill>
            <a:srgbClr val="142040"/>
          </a:solidFill>
          <a:ln w="12700">
            <a:solidFill>
              <a:srgbClr val="14204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3072384"/>
            <a:ext cx="128016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C9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jenis_kelamin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600200" y="3072384"/>
            <a:ext cx="96012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90D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ENUM(L/P)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606040" y="3072384"/>
            <a:ext cx="173736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99AA"/>
                </a:solidFill>
              </a:rPr>
              <a:t>L = Laki-laki, P = Perempuan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74320" y="3502152"/>
            <a:ext cx="4114800" cy="420624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3502152"/>
            <a:ext cx="128016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C9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golongan_darah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600200" y="3502152"/>
            <a:ext cx="96012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90D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VARCHAR(5)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2606040" y="3502152"/>
            <a:ext cx="173736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99AA"/>
                </a:solidFill>
              </a:rPr>
              <a:t>A, B, AB, atau O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74320" y="3931920"/>
            <a:ext cx="4114800" cy="420624"/>
          </a:xfrm>
          <a:prstGeom prst="rect">
            <a:avLst/>
          </a:prstGeom>
          <a:solidFill>
            <a:srgbClr val="142040"/>
          </a:solidFill>
          <a:ln w="12700">
            <a:solidFill>
              <a:srgbClr val="14204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3931920"/>
            <a:ext cx="128016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C9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alergi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600200" y="3931920"/>
            <a:ext cx="96012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90D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TEXT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2606040" y="3931920"/>
            <a:ext cx="173736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99AA"/>
                </a:solidFill>
              </a:rPr>
              <a:t>Riwayat alergi pasien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754880" y="914400"/>
            <a:ext cx="4114800" cy="411480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0" y="914400"/>
            <a:ext cx="4114800" cy="411480"/>
          </a:xfrm>
          <a:prstGeom prst="rect">
            <a:avLst/>
          </a:prstGeom>
          <a:noFill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👨‍⚕️  Tabel: dokter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754880" y="1353312"/>
            <a:ext cx="4114800" cy="420624"/>
          </a:xfrm>
          <a:prstGeom prst="rect">
            <a:avLst/>
          </a:prstGeom>
          <a:solidFill>
            <a:srgbClr val="142040"/>
          </a:solidFill>
          <a:ln w="12700">
            <a:solidFill>
              <a:srgbClr val="14204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00600" y="1353312"/>
            <a:ext cx="123444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C9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id_dokter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035040" y="1353312"/>
            <a:ext cx="100584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90D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INT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7086600" y="1353312"/>
            <a:ext cx="173736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99AA"/>
                </a:solidFill>
              </a:rPr>
              <a:t>Primary Key, Auto Increment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754880" y="1783080"/>
            <a:ext cx="4114800" cy="420624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00600" y="1783080"/>
            <a:ext cx="123444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C9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nip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035040" y="1783080"/>
            <a:ext cx="100584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90D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VARCHAR(20)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7086600" y="1783080"/>
            <a:ext cx="173736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99AA"/>
                </a:solidFill>
              </a:rPr>
              <a:t>Nomor Induk Pegawai (UNIQUE)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754880" y="2212848"/>
            <a:ext cx="4114800" cy="420624"/>
          </a:xfrm>
          <a:prstGeom prst="rect">
            <a:avLst/>
          </a:prstGeom>
          <a:solidFill>
            <a:srgbClr val="142040"/>
          </a:solidFill>
          <a:ln w="12700">
            <a:solidFill>
              <a:srgbClr val="14204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00600" y="2212848"/>
            <a:ext cx="123444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C9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nama_dokter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035040" y="2212848"/>
            <a:ext cx="100584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90D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VARCHAR(100)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7086600" y="2212848"/>
            <a:ext cx="173736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99AA"/>
                </a:solidFill>
              </a:rPr>
              <a:t>Nama lengkap dokter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4754880" y="2642616"/>
            <a:ext cx="4114800" cy="420624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00600" y="2642616"/>
            <a:ext cx="123444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C9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spesialisasi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035040" y="2642616"/>
            <a:ext cx="100584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90D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VARCHAR(100)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7086600" y="2642616"/>
            <a:ext cx="173736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99AA"/>
                </a:solidFill>
              </a:rPr>
              <a:t>Misal: Penyakit Dalam, Anak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4754880" y="3072384"/>
            <a:ext cx="4114800" cy="420624"/>
          </a:xfrm>
          <a:prstGeom prst="rect">
            <a:avLst/>
          </a:prstGeom>
          <a:solidFill>
            <a:srgbClr val="142040"/>
          </a:solidFill>
          <a:ln w="12700">
            <a:solidFill>
              <a:srgbClr val="14204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800600" y="3072384"/>
            <a:ext cx="123444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C9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jadwal_kerja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035040" y="3072384"/>
            <a:ext cx="100584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90D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TEXT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7086600" y="3072384"/>
            <a:ext cx="173736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99AA"/>
                </a:solidFill>
              </a:rPr>
              <a:t>Deskripsi jadwal kerja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4754880" y="3502152"/>
            <a:ext cx="4114800" cy="420624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800600" y="3502152"/>
            <a:ext cx="123444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C9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status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6035040" y="3502152"/>
            <a:ext cx="100584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90D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ENUM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7086600" y="3502152"/>
            <a:ext cx="173736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99AA"/>
                </a:solidFill>
              </a:rPr>
              <a:t>Aktif / Nonaktif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03  RELASI ANTAR TABEL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920240"/>
            <a:ext cx="1737360" cy="640080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920240"/>
            <a:ext cx="17373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👤 pasien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1737360" cy="640080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005840"/>
            <a:ext cx="17373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👨‍⚕️ dokter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0" y="1005840"/>
            <a:ext cx="1737360" cy="6400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743200" y="1005840"/>
            <a:ext cx="17373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📅 jadwal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0" y="2194560"/>
            <a:ext cx="2011680" cy="6858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743200" y="2194560"/>
            <a:ext cx="20116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🩺 pemeriksaan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46395" y="1554480"/>
            <a:ext cx="1737360" cy="64008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46395" y="1554480"/>
            <a:ext cx="17373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📝 resep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0" y="1005840"/>
            <a:ext cx="155448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315200" y="1005840"/>
            <a:ext cx="15544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resep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detail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0" y="2194560"/>
            <a:ext cx="1554480" cy="64008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315200" y="2194560"/>
            <a:ext cx="15544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💊 obat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0" y="3291840"/>
            <a:ext cx="2011680" cy="64008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743200" y="3291840"/>
            <a:ext cx="20116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💳 pembayaran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291840"/>
            <a:ext cx="1828800" cy="64008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65760" y="3291840"/>
            <a:ext cx="1828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riwayat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penyakit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669280" y="3291840"/>
            <a:ext cx="1828800" cy="640080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669280" y="3291840"/>
            <a:ext cx="1828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ref_penyakit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spesialis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103120" y="1325880"/>
            <a:ext cx="64008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2103120" y="1600200"/>
            <a:ext cx="640080" cy="658368"/>
          </a:xfrm>
          <a:prstGeom prst="line">
            <a:avLst/>
          </a:prstGeom>
          <a:noFill/>
          <a:ln w="19050">
            <a:solidFill>
              <a:srgbClr val="1E2761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2103120" y="2240280"/>
            <a:ext cx="640080" cy="365760"/>
          </a:xfrm>
          <a:prstGeom prst="line">
            <a:avLst/>
          </a:prstGeom>
          <a:noFill/>
          <a:ln w="19050">
            <a:solidFill>
              <a:srgbClr val="1E2761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1280160" y="2560320"/>
            <a:ext cx="0" cy="731520"/>
          </a:xfrm>
          <a:prstGeom prst="line">
            <a:avLst/>
          </a:prstGeom>
          <a:noFill/>
          <a:ln w="19050">
            <a:solidFill>
              <a:srgbClr val="1E2761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4531995" y="1920240"/>
            <a:ext cx="91440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7388352" y="1645920"/>
            <a:ext cx="18288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7178040" y="1645920"/>
            <a:ext cx="13716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8092440" y="1645920"/>
            <a:ext cx="0" cy="548640"/>
          </a:xfrm>
          <a:prstGeom prst="line">
            <a:avLst/>
          </a:prstGeom>
          <a:noFill/>
          <a:ln w="19050">
            <a:solidFill>
              <a:srgbClr val="1E2761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>
            <a:off x="3749040" y="2880360"/>
            <a:ext cx="0" cy="411480"/>
          </a:xfrm>
          <a:prstGeom prst="line">
            <a:avLst/>
          </a:prstGeom>
          <a:noFill/>
          <a:ln w="19050">
            <a:solidFill>
              <a:srgbClr val="1E2761"/>
            </a:solidFill>
            <a:prstDash val="dash"/>
          </a:ln>
        </p:spPr>
      </p:sp>
      <p:sp>
        <p:nvSpPr>
          <p:cNvPr id="33" name="Shape 31"/>
          <p:cNvSpPr/>
          <p:nvPr/>
        </p:nvSpPr>
        <p:spPr>
          <a:xfrm>
            <a:off x="365760" y="4114800"/>
            <a:ext cx="8412480" cy="777240"/>
          </a:xfrm>
          <a:prstGeom prst="rect">
            <a:avLst/>
          </a:prstGeom>
          <a:solidFill>
            <a:srgbClr val="1E2761">
              <a:alpha val="90000"/>
            </a:srgbClr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114800"/>
            <a:ext cx="841248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📌  Foreign Key = Penghubung antar tabel  |  CASCADE = ikut terhapus  |  RESTRICT = tidak boleh dihapus jika masih ada relasi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04  FITUR UNGGULAN — TRIGGER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38404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C9FF"/>
                </a:solidFill>
              </a:rPr>
              <a:t>Apa itu Trigger?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3840480" cy="1371600"/>
          </a:xfrm>
          <a:prstGeom prst="rect">
            <a:avLst/>
          </a:prstGeom>
          <a:solidFill>
            <a:srgbClr val="1E2761"/>
          </a:solidFill>
          <a:ln w="25400">
            <a:solidFill>
              <a:srgbClr val="E67E2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508760"/>
            <a:ext cx="3566160" cy="11887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</a:rPr>
              <a:t>Trigger adalah aksi otomatis yang dijalankan database ketika terjadi suatu peristiwa tertentu — seperti saat data baru ditambahkan, diubah, atau dihapus.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</a:rPr>
              <a:t>Tidak perlu kode tambahan di aplikasi — database yang mengurus sendiri!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65760" y="2926080"/>
            <a:ext cx="3840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7E22"/>
                </a:solidFill>
              </a:rPr>
              <a:t>Trigger di Sistem Ini: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3310128"/>
            <a:ext cx="3840480" cy="1554480"/>
          </a:xfrm>
          <a:prstGeom prst="rect">
            <a:avLst/>
          </a:prstGeom>
          <a:solidFill>
            <a:srgbClr val="142040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3401568"/>
            <a:ext cx="35661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9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trg_kurangi_stok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3730752"/>
            <a:ext cx="3566160" cy="10515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</a:rPr>
              <a:t>Setiap kali dokter menambahkan obat ke resep → stok obat di tabel obat otomatis berkurang sesuai jumlah yang diresepkan.</a:t>
            </a:r>
            <a:endParaRPr lang="en-US" sz="1000" dirty="0"/>
          </a:p>
          <a:p>
            <a:pPr marL="0" indent="0" algn="l">
              <a:buNone/>
            </a:pP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</a:rPr>
              <a:t>Menjamin stok selalu akurat tanpa perlu update manual!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0" y="1005840"/>
            <a:ext cx="42062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9FF"/>
                </a:solidFill>
              </a:rPr>
              <a:t>KODE TRIGGER: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0" y="1371600"/>
            <a:ext cx="4297680" cy="3493008"/>
          </a:xfrm>
          <a:prstGeom prst="rect">
            <a:avLst/>
          </a:prstGeom>
          <a:solidFill>
            <a:srgbClr val="0A1628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1481328"/>
            <a:ext cx="40233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7E2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CREATE TRIGGER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709160" y="1714500"/>
            <a:ext cx="40233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C9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trg_kurangi_stok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709160" y="1947672"/>
            <a:ext cx="40233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7E2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AFTER INSERT 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709160" y="2180844"/>
            <a:ext cx="40233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90D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resep_detail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709160" y="2414016"/>
            <a:ext cx="40233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7E2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FOR EACH ROW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709160" y="2647188"/>
            <a:ext cx="40233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7AE6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BEGIN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709160" y="2880360"/>
            <a:ext cx="40233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-- Kurangi stok obat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709160" y="3113532"/>
            <a:ext cx="40233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7E2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UPDATE obat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709160" y="3346704"/>
            <a:ext cx="40233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SET stok = stok -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709160" y="3579876"/>
            <a:ext cx="40233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C9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NEW.jumlah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709160" y="3813048"/>
            <a:ext cx="40233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WHERE id_obat =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709160" y="4046220"/>
            <a:ext cx="40233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C9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NEW.id_obat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709160" y="4279392"/>
            <a:ext cx="40233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90D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AND stok &gt;= NEW.jumlah;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709160" y="4512564"/>
            <a:ext cx="40233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7AE6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END;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04  VIEW &amp; STORED PROCEDURE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206240" cy="457200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05840"/>
            <a:ext cx="4206240" cy="457200"/>
          </a:xfrm>
          <a:prstGeom prst="rect">
            <a:avLst/>
          </a:prstGeom>
          <a:noFill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👁️  VIEW  —  v_laporan_penyakit_pasien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463040"/>
            <a:ext cx="42062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16A08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536192"/>
            <a:ext cx="3931920" cy="1143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761"/>
                </a:solidFill>
              </a:rPr>
              <a:t>View adalah "tabel virtual" yang menyimpan query kompleks agar bisa dipanggil ulang dengan mudah.</a:t>
            </a:r>
            <a:endParaRPr lang="en-US" sz="1000" dirty="0"/>
          </a:p>
          <a:p>
            <a:pPr marL="0" indent="0" algn="l">
              <a:buNone/>
            </a:pP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E2761"/>
                </a:solidFill>
              </a:rPr>
              <a:t>View ini menggabungkan data dari 4 tabel sekaligus dan secara otomatis mengevaluasi apakah dokter yang menangani pasien sudah sesuai spesialisasinya.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2834640"/>
            <a:ext cx="4206240" cy="411480"/>
          </a:xfrm>
          <a:prstGeom prst="rect">
            <a:avLst/>
          </a:prstGeom>
          <a:solidFill>
            <a:srgbClr val="16A085">
              <a:alpha val="70000"/>
            </a:srgbClr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2834640"/>
            <a:ext cx="4206240" cy="411480"/>
          </a:xfrm>
          <a:prstGeom prst="rect">
            <a:avLst/>
          </a:prstGeom>
          <a:noFill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</a:rPr>
              <a:t>Informasi yang ditampilkan: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11480" y="3319272"/>
            <a:ext cx="109728" cy="109728"/>
          </a:xfrm>
          <a:prstGeom prst="ellipse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3264408"/>
            <a:ext cx="3657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</a:rPr>
              <a:t>Nomor RM &amp; Nama Pasien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11480" y="3666744"/>
            <a:ext cx="109728" cy="109728"/>
          </a:xfrm>
          <a:prstGeom prst="ellipse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3611880"/>
            <a:ext cx="3657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</a:rPr>
              <a:t>Usia Pasien (dihitung otomatis)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11480" y="4014216"/>
            <a:ext cx="109728" cy="109728"/>
          </a:xfrm>
          <a:prstGeom prst="ellipse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959352"/>
            <a:ext cx="3657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</a:rPr>
              <a:t>Nama Penyakit &amp; Tingkat Urgensi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11480" y="4361688"/>
            <a:ext cx="109728" cy="109728"/>
          </a:xfrm>
          <a:prstGeom prst="ellipse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4306824"/>
            <a:ext cx="3657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</a:rPr>
              <a:t>Spesialisasi yang dibutuhkan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11480" y="4709160"/>
            <a:ext cx="109728" cy="109728"/>
          </a:xfrm>
          <a:prstGeom prst="ellipse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4654296"/>
            <a:ext cx="3657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</a:rPr>
              <a:t>Evaluasi: Penanganan Tepat/Tidak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63440" y="1005840"/>
            <a:ext cx="4206240" cy="457200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1005840"/>
            <a:ext cx="4206240" cy="457200"/>
          </a:xfrm>
          <a:prstGeom prst="rect">
            <a:avLst/>
          </a:prstGeom>
          <a:noFill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⚙️  STORED PROCEDURE  —  Rekomendasi Dokter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1463040"/>
            <a:ext cx="42062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2E5FA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00600" y="1536192"/>
            <a:ext cx="3931920" cy="1143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761"/>
                </a:solidFill>
              </a:rPr>
              <a:t>Stored Procedure adalah sekumpulan perintah SQL yang disimpan di database dan bisa dipanggil kapan saja.</a:t>
            </a:r>
            <a:endParaRPr lang="en-US" sz="1000" dirty="0"/>
          </a:p>
          <a:p>
            <a:pPr marL="0" indent="0" algn="l">
              <a:buNone/>
            </a:pP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E2761"/>
                </a:solidFill>
              </a:rPr>
              <a:t>Prosedur ini mencari dokter yang tepat berdasarkan jenis penyakit yang dimasukkan — lengkap dengan jadwal dan kontak dokter.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63440" y="2834640"/>
            <a:ext cx="4206240" cy="411480"/>
          </a:xfrm>
          <a:prstGeom prst="rect">
            <a:avLst/>
          </a:prstGeom>
          <a:solidFill>
            <a:srgbClr val="2E5FA3">
              <a:alpha val="70000"/>
            </a:srgbClr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2834640"/>
            <a:ext cx="4206240" cy="411480"/>
          </a:xfrm>
          <a:prstGeom prst="rect">
            <a:avLst/>
          </a:prstGeom>
          <a:noFill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</a:rPr>
              <a:t>Cara penggunaan: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663440" y="3291840"/>
            <a:ext cx="4206240" cy="5029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3364992"/>
            <a:ext cx="40233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C9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CALL rekomendasi_dokter_untuk_penyakit('ISPA');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800600" y="3904488"/>
            <a:ext cx="109728" cy="109728"/>
          </a:xfrm>
          <a:prstGeom prst="ellipse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83480" y="3849624"/>
            <a:ext cx="37490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</a:rPr>
              <a:t>Nama penyakit &amp; deskripsinya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800600" y="4224528"/>
            <a:ext cx="109728" cy="109728"/>
          </a:xfrm>
          <a:prstGeom prst="ellipse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83480" y="4169664"/>
            <a:ext cx="37490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</a:rPr>
              <a:t>Spesialisasi dokter yang dibutuhkan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800600" y="4544568"/>
            <a:ext cx="109728" cy="109728"/>
          </a:xfrm>
          <a:prstGeom prst="ellipse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83480" y="4489704"/>
            <a:ext cx="37490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</a:rPr>
              <a:t>Nama &amp; kontak dokter yang tersedia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800600" y="4864608"/>
            <a:ext cx="109728" cy="109728"/>
          </a:xfrm>
          <a:prstGeom prst="ellipse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83480" y="4809744"/>
            <a:ext cx="37490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</a:rPr>
              <a:t>Jadwal hari &amp; jam praktik dokter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05  ALUR SISTEM KLINIK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3E"/>
                </a:solidFill>
              </a:rPr>
              <a:t>Bagaimana data mengalir dari pendaftaran hingga pembayaran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828800" y="2651760"/>
            <a:ext cx="164592" cy="0"/>
          </a:xfrm>
          <a:prstGeom prst="line">
            <a:avLst/>
          </a:prstGeom>
          <a:noFill/>
          <a:ln w="25400">
            <a:solidFill>
              <a:srgbClr val="8899A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051560"/>
            <a:ext cx="1554480" cy="3200400"/>
          </a:xfrm>
          <a:prstGeom prst="rect">
            <a:avLst/>
          </a:prstGeom>
          <a:solidFill>
            <a:srgbClr val="142040"/>
          </a:solidFill>
          <a:ln w="25400">
            <a:solidFill>
              <a:srgbClr val="2E5FA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051560"/>
            <a:ext cx="1554480" cy="685800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1051560"/>
            <a:ext cx="15544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👤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777240" y="1554480"/>
            <a:ext cx="457200" cy="457200"/>
          </a:xfrm>
          <a:prstGeom prst="ellipse">
            <a:avLst/>
          </a:prstGeom>
          <a:solidFill>
            <a:srgbClr val="0D1B3E"/>
          </a:solidFill>
          <a:ln w="25400">
            <a:solidFill>
              <a:srgbClr val="2E5FA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55448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5FA3"/>
                </a:solidFill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0040" y="2075688"/>
            <a:ext cx="1371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Pasien Daftar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0040" y="2532888"/>
            <a:ext cx="1371600" cy="1600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9AA"/>
                </a:solidFill>
              </a:rPr>
              <a:t>Data dicatat di tabel pasien dengan Nomor RM unik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566160" y="2651760"/>
            <a:ext cx="164592" cy="0"/>
          </a:xfrm>
          <a:prstGeom prst="line">
            <a:avLst/>
          </a:prstGeom>
          <a:noFill/>
          <a:ln w="25400">
            <a:solidFill>
              <a:srgbClr val="8899A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65960" y="1051560"/>
            <a:ext cx="1554480" cy="3200400"/>
          </a:xfrm>
          <a:prstGeom prst="rect">
            <a:avLst/>
          </a:prstGeom>
          <a:solidFill>
            <a:srgbClr val="142040"/>
          </a:solidFill>
          <a:ln w="25400">
            <a:solidFill>
              <a:srgbClr val="16A08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965960" y="1051560"/>
            <a:ext cx="1554480" cy="685800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65960" y="1051560"/>
            <a:ext cx="15544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👨‍⚕️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2514600" y="1554480"/>
            <a:ext cx="457200" cy="457200"/>
          </a:xfrm>
          <a:prstGeom prst="ellipse">
            <a:avLst/>
          </a:prstGeom>
          <a:solidFill>
            <a:srgbClr val="0D1B3E"/>
          </a:solidFill>
          <a:ln w="25400">
            <a:solidFill>
              <a:srgbClr val="16A08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155448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A085"/>
                </a:solidFill>
              </a:rPr>
              <a:t>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057400" y="2075688"/>
            <a:ext cx="1371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Pilih Dokter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057400" y="2532888"/>
            <a:ext cx="1371600" cy="1600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9AA"/>
                </a:solidFill>
              </a:rPr>
              <a:t>Sistem cek jadwal dokter di tabel jadwal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303520" y="2651760"/>
            <a:ext cx="164592" cy="0"/>
          </a:xfrm>
          <a:prstGeom prst="line">
            <a:avLst/>
          </a:prstGeom>
          <a:noFill/>
          <a:ln w="25400">
            <a:solidFill>
              <a:srgbClr val="8899A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703320" y="1051560"/>
            <a:ext cx="1554480" cy="3200400"/>
          </a:xfrm>
          <a:prstGeom prst="rect">
            <a:avLst/>
          </a:prstGeom>
          <a:solidFill>
            <a:srgbClr val="142040"/>
          </a:solidFill>
          <a:ln w="25400">
            <a:solidFill>
              <a:srgbClr val="E67E2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703320" y="1051560"/>
            <a:ext cx="1554480" cy="6858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03320" y="1051560"/>
            <a:ext cx="15544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🩺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4251960" y="1554480"/>
            <a:ext cx="457200" cy="457200"/>
          </a:xfrm>
          <a:prstGeom prst="ellipse">
            <a:avLst/>
          </a:prstGeom>
          <a:solidFill>
            <a:srgbClr val="0D1B3E"/>
          </a:solidFill>
          <a:ln w="25400">
            <a:solidFill>
              <a:srgbClr val="E67E2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51960" y="155448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67E22"/>
                </a:solidFill>
              </a:rPr>
              <a:t>3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794760" y="2075688"/>
            <a:ext cx="1371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Pemeriksaan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794760" y="2532888"/>
            <a:ext cx="1371600" cy="1600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9AA"/>
                </a:solidFill>
              </a:rPr>
              <a:t>Dokter catat keluhan &amp; diagnosis di tabel pemeriksaan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040880" y="2651760"/>
            <a:ext cx="164592" cy="0"/>
          </a:xfrm>
          <a:prstGeom prst="line">
            <a:avLst/>
          </a:prstGeom>
          <a:noFill/>
          <a:ln w="25400">
            <a:solidFill>
              <a:srgbClr val="8899A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40680" y="1051560"/>
            <a:ext cx="1554480" cy="3200400"/>
          </a:xfrm>
          <a:prstGeom prst="rect">
            <a:avLst/>
          </a:prstGeom>
          <a:solidFill>
            <a:srgbClr val="142040"/>
          </a:solidFill>
          <a:ln w="25400">
            <a:solidFill>
              <a:srgbClr val="4A90D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440680" y="1051560"/>
            <a:ext cx="1554480" cy="6858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40680" y="1051560"/>
            <a:ext cx="15544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💊</a:t>
            </a:r>
            <a:endParaRPr lang="en-US" sz="2200" dirty="0"/>
          </a:p>
        </p:txBody>
      </p:sp>
      <p:sp>
        <p:nvSpPr>
          <p:cNvPr id="33" name="Shape 31"/>
          <p:cNvSpPr/>
          <p:nvPr/>
        </p:nvSpPr>
        <p:spPr>
          <a:xfrm>
            <a:off x="5989320" y="1554480"/>
            <a:ext cx="457200" cy="457200"/>
          </a:xfrm>
          <a:prstGeom prst="ellipse">
            <a:avLst/>
          </a:prstGeom>
          <a:solidFill>
            <a:srgbClr val="0D1B3E"/>
          </a:solidFill>
          <a:ln w="25400">
            <a:solidFill>
              <a:srgbClr val="4A90D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89320" y="155448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A90D9"/>
                </a:solidFill>
              </a:rPr>
              <a:t>4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532120" y="2075688"/>
            <a:ext cx="1371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Resep Obat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532120" y="2532888"/>
            <a:ext cx="1371600" cy="1600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9AA"/>
                </a:solidFill>
              </a:rPr>
              <a:t>Dokter buat resep → trigger otomatis kurangi stok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178040" y="1051560"/>
            <a:ext cx="1554480" cy="3200400"/>
          </a:xfrm>
          <a:prstGeom prst="rect">
            <a:avLst/>
          </a:prstGeom>
          <a:solidFill>
            <a:srgbClr val="142040"/>
          </a:solidFill>
          <a:ln w="25400">
            <a:solidFill>
              <a:srgbClr val="27AE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7178040" y="1051560"/>
            <a:ext cx="1554480" cy="6858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178040" y="1051560"/>
            <a:ext cx="15544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💳</a:t>
            </a:r>
            <a:endParaRPr lang="en-US" sz="2200" dirty="0"/>
          </a:p>
        </p:txBody>
      </p:sp>
      <p:sp>
        <p:nvSpPr>
          <p:cNvPr id="40" name="Shape 38"/>
          <p:cNvSpPr/>
          <p:nvPr/>
        </p:nvSpPr>
        <p:spPr>
          <a:xfrm>
            <a:off x="7726680" y="1554480"/>
            <a:ext cx="457200" cy="457200"/>
          </a:xfrm>
          <a:prstGeom prst="ellipse">
            <a:avLst/>
          </a:prstGeom>
          <a:solidFill>
            <a:srgbClr val="0D1B3E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726680" y="155448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7AE60"/>
                </a:solidFill>
              </a:rPr>
              <a:t>5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7269480" y="2075688"/>
            <a:ext cx="1371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Pembayaran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269480" y="2532888"/>
            <a:ext cx="1371600" cy="1600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9AA"/>
                </a:solidFill>
              </a:rPr>
              <a:t>Total dihitung &amp; dicatat di tabel pembayaran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06  HASIL QUERY (10 OUTPUT)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1572768" cy="1691640"/>
          </a:xfrm>
          <a:prstGeom prst="rect">
            <a:avLst/>
          </a:prstGeom>
          <a:solidFill>
            <a:srgbClr val="FFFFFF"/>
          </a:solidFill>
          <a:ln w="25400">
            <a:solidFill>
              <a:srgbClr val="2E5FA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1572768" cy="438912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05840"/>
            <a:ext cx="1572768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R1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38328" y="1463040"/>
            <a:ext cx="1444752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2761"/>
                </a:solidFill>
              </a:rPr>
              <a:t>Jadwal Dokter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38328" y="1856232"/>
            <a:ext cx="1444752" cy="777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99AA"/>
                </a:solidFill>
              </a:rPr>
              <a:t>Semua jadwal praktik dokter aktif, diurutkan per hari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993392" y="1005840"/>
            <a:ext cx="1572768" cy="1691640"/>
          </a:xfrm>
          <a:prstGeom prst="rect">
            <a:avLst/>
          </a:prstGeom>
          <a:solidFill>
            <a:srgbClr val="FFFFFF"/>
          </a:solidFill>
          <a:ln w="25400">
            <a:solidFill>
              <a:srgbClr val="16A08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993392" y="1005840"/>
            <a:ext cx="1572768" cy="438912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93392" y="1005840"/>
            <a:ext cx="1572768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R2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057400" y="1463040"/>
            <a:ext cx="1444752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2761"/>
                </a:solidFill>
              </a:rPr>
              <a:t>Daftar Pasien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057400" y="1856232"/>
            <a:ext cx="1444752" cy="777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99AA"/>
                </a:solidFill>
              </a:rPr>
              <a:t>Data semua pasien termasuk usia yang dihitung otomatis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712464" y="1005840"/>
            <a:ext cx="1572768" cy="1691640"/>
          </a:xfrm>
          <a:prstGeom prst="rect">
            <a:avLst/>
          </a:prstGeom>
          <a:solidFill>
            <a:srgbClr val="FFFFFF"/>
          </a:solidFill>
          <a:ln w="25400">
            <a:solidFill>
              <a:srgbClr val="27AE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712464" y="1005840"/>
            <a:ext cx="1572768" cy="43891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12464" y="1005840"/>
            <a:ext cx="1572768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R3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776472" y="1463040"/>
            <a:ext cx="1444752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2761"/>
                </a:solidFill>
              </a:rPr>
              <a:t>Riwayat Penyakit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776472" y="1856232"/>
            <a:ext cx="1444752" cy="777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99AA"/>
                </a:solidFill>
              </a:rPr>
              <a:t>Penyakit pasien + evaluasi kesesuaian dokter penanganan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431536" y="1005840"/>
            <a:ext cx="1572768" cy="1691640"/>
          </a:xfrm>
          <a:prstGeom prst="rect">
            <a:avLst/>
          </a:prstGeom>
          <a:solidFill>
            <a:srgbClr val="FFFFFF"/>
          </a:solidFill>
          <a:ln w="25400">
            <a:solidFill>
              <a:srgbClr val="E67E2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31536" y="1005840"/>
            <a:ext cx="1572768" cy="43891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31536" y="1005840"/>
            <a:ext cx="1572768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R4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95544" y="1463040"/>
            <a:ext cx="1444752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2761"/>
                </a:solidFill>
              </a:rPr>
              <a:t>Rekomendasi Dokter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495544" y="1856232"/>
            <a:ext cx="1444752" cy="777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99AA"/>
                </a:solidFill>
              </a:rPr>
              <a:t>Dokter tersedia per jenis penyakit dengan status ketersediaan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7150608" y="1005840"/>
            <a:ext cx="1572768" cy="1691640"/>
          </a:xfrm>
          <a:prstGeom prst="rect">
            <a:avLst/>
          </a:prstGeom>
          <a:solidFill>
            <a:srgbClr val="FFFFFF"/>
          </a:solidFill>
          <a:ln w="25400">
            <a:solidFill>
              <a:srgbClr val="E74C3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150608" y="1005840"/>
            <a:ext cx="1572768" cy="43891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50608" y="1005840"/>
            <a:ext cx="1572768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R5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214616" y="1463040"/>
            <a:ext cx="1444752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2761"/>
                </a:solidFill>
              </a:rPr>
              <a:t>Statistik Penanganan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214616" y="1856232"/>
            <a:ext cx="1444752" cy="777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99AA"/>
                </a:solidFill>
              </a:rPr>
              <a:t>Persentase pasien yang ditangani oleh dokter yang tepat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74320" y="2926080"/>
            <a:ext cx="1572768" cy="1691640"/>
          </a:xfrm>
          <a:prstGeom prst="rect">
            <a:avLst/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2926080"/>
            <a:ext cx="1572768" cy="43891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2926080"/>
            <a:ext cx="1572768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R6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38328" y="3383280"/>
            <a:ext cx="1444752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2761"/>
                </a:solidFill>
              </a:rPr>
              <a:t>Laporan View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38328" y="3776472"/>
            <a:ext cx="1444752" cy="777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99AA"/>
                </a:solidFill>
              </a:rPr>
              <a:t>Laporan lengkap dari view v_laporan_penyakit_pasien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1993392" y="2926080"/>
            <a:ext cx="1572768" cy="1691640"/>
          </a:xfrm>
          <a:prstGeom prst="rect">
            <a:avLst/>
          </a:prstGeom>
          <a:solidFill>
            <a:srgbClr val="FFFFFF"/>
          </a:solidFill>
          <a:ln w="25400">
            <a:solidFill>
              <a:srgbClr val="4A90D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1993392" y="2926080"/>
            <a:ext cx="1572768" cy="43891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993392" y="2926080"/>
            <a:ext cx="1572768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R7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2057400" y="3383280"/>
            <a:ext cx="1444752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2761"/>
                </a:solidFill>
              </a:rPr>
              <a:t>Prosedur: ISPA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2057400" y="3776472"/>
            <a:ext cx="1444752" cy="777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99AA"/>
                </a:solidFill>
              </a:rPr>
              <a:t>Rekomendasi dokter untuk penyakit ISPA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712464" y="2926080"/>
            <a:ext cx="1572768" cy="1691640"/>
          </a:xfrm>
          <a:prstGeom prst="rect">
            <a:avLst/>
          </a:prstGeom>
          <a:solidFill>
            <a:srgbClr val="FFFFFF"/>
          </a:solidFill>
          <a:ln w="25400">
            <a:solidFill>
              <a:srgbClr val="16A08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3712464" y="2926080"/>
            <a:ext cx="1572768" cy="438912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712464" y="2926080"/>
            <a:ext cx="1572768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R8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3776472" y="3383280"/>
            <a:ext cx="1444752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2761"/>
                </a:solidFill>
              </a:rPr>
              <a:t>Prosedur: Diare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3776472" y="3776472"/>
            <a:ext cx="1444752" cy="777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99AA"/>
                </a:solidFill>
              </a:rPr>
              <a:t>Rekomendasi dokter untuk Demam dan Diare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5431536" y="2926080"/>
            <a:ext cx="1572768" cy="1691640"/>
          </a:xfrm>
          <a:prstGeom prst="rect">
            <a:avLst/>
          </a:prstGeom>
          <a:solidFill>
            <a:srgbClr val="FFFFFF"/>
          </a:solidFill>
          <a:ln w="25400">
            <a:solidFill>
              <a:srgbClr val="27AE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5431536" y="2926080"/>
            <a:ext cx="1572768" cy="43891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431536" y="2926080"/>
            <a:ext cx="1572768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R9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5495544" y="3383280"/>
            <a:ext cx="1444752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2761"/>
                </a:solidFill>
              </a:rPr>
              <a:t>Prosedur: Kehamilan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5495544" y="3776472"/>
            <a:ext cx="1444752" cy="777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99AA"/>
                </a:solidFill>
              </a:rPr>
              <a:t>Rekomendasi dokter untuk Kehamilan Normal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7150608" y="2926080"/>
            <a:ext cx="1572768" cy="1691640"/>
          </a:xfrm>
          <a:prstGeom prst="rect">
            <a:avLst/>
          </a:prstGeom>
          <a:solidFill>
            <a:srgbClr val="FFFFFF"/>
          </a:solidFill>
          <a:ln w="25400">
            <a:solidFill>
              <a:srgbClr val="2E5FA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7150608" y="2926080"/>
            <a:ext cx="1572768" cy="438912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150608" y="2926080"/>
            <a:ext cx="1572768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R10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7214616" y="3383280"/>
            <a:ext cx="1444752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2761"/>
                </a:solidFill>
              </a:rPr>
              <a:t>Statistik Tabel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7214616" y="3776472"/>
            <a:ext cx="1444752" cy="777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99AA"/>
                </a:solidFill>
              </a:rPr>
              <a:t>Jumlah total data di setiap tabel (ringkasan database)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9FF"/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C9FF"/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371600" y="-914400"/>
            <a:ext cx="5486400" cy="5486400"/>
          </a:xfrm>
          <a:prstGeom prst="ellipse">
            <a:avLst/>
          </a:prstGeom>
          <a:solidFill>
            <a:srgbClr val="1E2761">
              <a:alpha val="60000"/>
            </a:srgbClr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0" y="1371600"/>
            <a:ext cx="4114800" cy="4114800"/>
          </a:xfrm>
          <a:prstGeom prst="ellipse">
            <a:avLst/>
          </a:prstGeom>
          <a:solidFill>
            <a:srgbClr val="1E2761">
              <a:alpha val="50000"/>
            </a:srgbClr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228600"/>
            <a:ext cx="5029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9FF"/>
                </a:solidFill>
              </a:rPr>
              <a:t>RINGKASAN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640080"/>
            <a:ext cx="64008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Yang Telah Kita Pelajari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365760" y="1600200"/>
            <a:ext cx="5943600" cy="566928"/>
          </a:xfrm>
          <a:prstGeom prst="rect">
            <a:avLst/>
          </a:prstGeom>
          <a:solidFill>
            <a:srgbClr val="142040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600200"/>
            <a:ext cx="59436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🗄️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1600200"/>
            <a:ext cx="201168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9FF"/>
                </a:solidFill>
              </a:rPr>
              <a:t>10 Tabel Terstruktur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063240" y="1600200"/>
            <a:ext cx="32004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</a:rPr>
              <a:t>Pasien, dokter, jadwal, pemeriksaan, obat, dll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240280"/>
            <a:ext cx="5943600" cy="566928"/>
          </a:xfrm>
          <a:prstGeom prst="rect">
            <a:avLst/>
          </a:prstGeom>
          <a:solidFill>
            <a:srgbClr val="142040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240280"/>
            <a:ext cx="59436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🔗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5840" y="2240280"/>
            <a:ext cx="201168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9FF"/>
                </a:solidFill>
              </a:rPr>
              <a:t>Relasi &amp; Integritas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063240" y="2240280"/>
            <a:ext cx="32004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</a:rPr>
              <a:t>Foreign key CASCADE &amp; RESTRICT menjaga konsistensi data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880360"/>
            <a:ext cx="5943600" cy="566928"/>
          </a:xfrm>
          <a:prstGeom prst="rect">
            <a:avLst/>
          </a:prstGeom>
          <a:solidFill>
            <a:srgbClr val="142040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880360"/>
            <a:ext cx="59436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05840" y="2880360"/>
            <a:ext cx="201168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9FF"/>
                </a:solidFill>
              </a:rPr>
              <a:t>Trigger Otomatis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063240" y="2880360"/>
            <a:ext cx="32004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</a:rPr>
              <a:t>Stok obat berkurang otomatis saat resep dibuat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520440"/>
            <a:ext cx="5943600" cy="566928"/>
          </a:xfrm>
          <a:prstGeom prst="rect">
            <a:avLst/>
          </a:prstGeom>
          <a:solidFill>
            <a:srgbClr val="142040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520440"/>
            <a:ext cx="59436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👁️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05840" y="3520440"/>
            <a:ext cx="201168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9FF"/>
                </a:solidFill>
              </a:rPr>
              <a:t>View &amp; Procedure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063240" y="3520440"/>
            <a:ext cx="32004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</a:rPr>
              <a:t>Laporan dan rekomendasi dokter yang mudah diakses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4160520"/>
            <a:ext cx="5943600" cy="566928"/>
          </a:xfrm>
          <a:prstGeom prst="rect">
            <a:avLst/>
          </a:prstGeom>
          <a:solidFill>
            <a:srgbClr val="142040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160520"/>
            <a:ext cx="59436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005840" y="4160520"/>
            <a:ext cx="201168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9FF"/>
                </a:solidFill>
              </a:rPr>
              <a:t>10 Laporan Output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063240" y="4160520"/>
            <a:ext cx="32004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</a:rPr>
              <a:t>Dari jadwal hingga statistik penanganan pasien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400800" y="1005840"/>
            <a:ext cx="2468880" cy="3383280"/>
          </a:xfrm>
          <a:prstGeom prst="rect">
            <a:avLst/>
          </a:prstGeom>
          <a:solidFill>
            <a:srgbClr val="1E2761"/>
          </a:solidFill>
          <a:ln w="25400">
            <a:solidFill>
              <a:srgbClr val="00C9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400800" y="1280160"/>
            <a:ext cx="246888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TERIMA</a:t>
            </a:r>
            <a:endParaRPr lang="en-US" sz="2600" dirty="0"/>
          </a:p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KASIH</a:t>
            </a:r>
            <a:endParaRPr lang="en-US" sz="2600" dirty="0"/>
          </a:p>
        </p:txBody>
      </p:sp>
      <p:sp>
        <p:nvSpPr>
          <p:cNvPr id="30" name="Shape 28"/>
          <p:cNvSpPr/>
          <p:nvPr/>
        </p:nvSpPr>
        <p:spPr>
          <a:xfrm>
            <a:off x="6675120" y="2697480"/>
            <a:ext cx="1920240" cy="36576"/>
          </a:xfrm>
          <a:prstGeom prst="rect">
            <a:avLst/>
          </a:prstGeom>
          <a:solidFill>
            <a:srgbClr val="00C9FF"/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0" y="2834640"/>
            <a:ext cx="246888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AA"/>
                </a:solidFill>
              </a:rPr>
              <a:t>Database Sistem Klinik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899AA"/>
                </a:solidFill>
              </a:rPr>
              <a:t>Mata Kuliah Basis Data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5351</Words>
  <Application>WPS Presentation</Application>
  <PresentationFormat>On-screen Show (16:9)</PresentationFormat>
  <Paragraphs>494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4" baseType="lpstr">
      <vt:lpstr>Arial</vt:lpstr>
      <vt:lpstr>SimSun</vt:lpstr>
      <vt:lpstr>Wingdings</vt:lpstr>
      <vt:lpstr>Arial Black</vt:lpstr>
      <vt:lpstr>Arial Black</vt:lpstr>
      <vt:lpstr>Arial Black</vt:lpstr>
      <vt:lpstr>Consolas</vt:lpstr>
      <vt:lpstr>Consolas</vt:lpstr>
      <vt:lpstr>Consolas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Database Sistem Klinik</dc:title>
  <dc:creator>Tim Kelompok</dc:creator>
  <dc:subject>PptxGenJS Presentation</dc:subject>
  <cp:lastModifiedBy>Abdul Khair</cp:lastModifiedBy>
  <cp:revision>3</cp:revision>
  <dcterms:created xsi:type="dcterms:W3CDTF">2026-05-19T02:04:00Z</dcterms:created>
  <dcterms:modified xsi:type="dcterms:W3CDTF">2026-05-20T10:31:10Z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0E5396C7FA644E74911E9A1697E46DF5_12</vt:lpwstr>
  </property>
  <property fmtid="{D5CDD505-2E9C-101B-9397-08002B2CF9AE}" pid="3" name="KSOProductBuildVer">
    <vt:lpwstr>1033-12.1.0.26372</vt:lpwstr>
  </property>
</Properties>
</file>